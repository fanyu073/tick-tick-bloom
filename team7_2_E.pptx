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sldIdLst>
    <p:sldId id="256" r:id="rId5"/>
    <p:sldId id="512" r:id="rId6"/>
    <p:sldId id="556" r:id="rId7"/>
    <p:sldId id="546" r:id="rId8"/>
    <p:sldId id="548" r:id="rId9"/>
    <p:sldId id="552" r:id="rId10"/>
    <p:sldId id="553" r:id="rId11"/>
    <p:sldId id="554" r:id="rId12"/>
    <p:sldId id="555" r:id="rId13"/>
  </p:sldIdLst>
  <p:sldSz cx="9144000" cy="6858000" type="screen4x3"/>
  <p:notesSz cx="6858000" cy="9144000"/>
  <p:custDataLst>
    <p:tags r:id="rId15"/>
  </p:custData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2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ngYi Li" initials="PL"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2B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96" autoAdjust="0"/>
    <p:restoredTop sz="94660"/>
  </p:normalViewPr>
  <p:slideViewPr>
    <p:cSldViewPr showGuides="1">
      <p:cViewPr varScale="1">
        <p:scale>
          <a:sx n="82" d="100"/>
          <a:sy n="82" d="100"/>
        </p:scale>
        <p:origin x="1450" y="72"/>
      </p:cViewPr>
      <p:guideLst>
        <p:guide orient="horz" pos="2160"/>
        <p:guide pos="2828"/>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97E905-54E0-4557-95E8-663674CB3740}" type="datetimeFigureOut">
              <a:rPr lang="zh-CN" altLang="en-US" smtClean="0"/>
              <a:t>2025/3/18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4D4EC-EA96-4A95-A639-2A76DDF98CE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hasCustomPrompt="1"/>
          </p:nvPr>
        </p:nvSpPr>
        <p:spPr>
          <a:xfrm>
            <a:off x="1371600" y="3717032"/>
            <a:ext cx="6400800" cy="1921768"/>
          </a:xfrm>
        </p:spPr>
        <p:txBody>
          <a:bodyPr>
            <a:normAutofit/>
          </a:bodyPr>
          <a:lstStyle>
            <a:lvl1pPr marL="0" indent="0" algn="ctr">
              <a:buNone/>
              <a:defRPr sz="2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Text</a:t>
            </a:r>
            <a:endParaRPr lang="ru-RU" dirty="0"/>
          </a:p>
        </p:txBody>
      </p:sp>
      <p:sp>
        <p:nvSpPr>
          <p:cNvPr id="7" name="Заголовок 6"/>
          <p:cNvSpPr>
            <a:spLocks noGrp="1"/>
          </p:cNvSpPr>
          <p:nvPr>
            <p:ph type="title" hasCustomPrompt="1"/>
          </p:nvPr>
        </p:nvSpPr>
        <p:spPr>
          <a:xfrm>
            <a:off x="457200" y="2348880"/>
            <a:ext cx="8229600" cy="1143000"/>
          </a:xfrm>
        </p:spPr>
        <p:txBody>
          <a:bodyPr/>
          <a:lstStyle>
            <a:lvl1pPr>
              <a:defRPr b="1" cap="all" baseline="0">
                <a:solidFill>
                  <a:schemeClr val="bg1"/>
                </a:solidFill>
              </a:defRPr>
            </a:lvl1pPr>
          </a:lstStyle>
          <a:p>
            <a:r>
              <a:rPr lang="en-US" dirty="0"/>
              <a:t>Title</a:t>
            </a:r>
            <a:endParaRPr lang="ru-R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Рабочий слайд">
    <p:spTree>
      <p:nvGrpSpPr>
        <p:cNvPr id="1" name=""/>
        <p:cNvGrpSpPr/>
        <p:nvPr/>
      </p:nvGrpSpPr>
      <p:grpSpPr>
        <a:xfrm>
          <a:off x="0" y="0"/>
          <a:ext cx="0" cy="0"/>
          <a:chOff x="0" y="0"/>
          <a:chExt cx="0" cy="0"/>
        </a:xfrm>
      </p:grpSpPr>
      <p:sp>
        <p:nvSpPr>
          <p:cNvPr id="7" name="Прямоугольник 6"/>
          <p:cNvSpPr/>
          <p:nvPr userDrawn="1"/>
        </p:nvSpPr>
        <p:spPr>
          <a:xfrm>
            <a:off x="179512" y="404664"/>
            <a:ext cx="4752528"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hasCustomPrompt="1"/>
          </p:nvPr>
        </p:nvSpPr>
        <p:spPr>
          <a:xfrm>
            <a:off x="179512" y="404664"/>
            <a:ext cx="4680520" cy="576064"/>
          </a:xfrm>
        </p:spPr>
        <p:txBody>
          <a:bodyPr>
            <a:normAutofit/>
          </a:bodyPr>
          <a:lstStyle>
            <a:lvl1pPr algn="l">
              <a:defRPr sz="3600">
                <a:solidFill>
                  <a:schemeClr val="bg1"/>
                </a:solidFill>
              </a:defRPr>
            </a:lvl1pPr>
          </a:lstStyle>
          <a:p>
            <a:r>
              <a:rPr lang="en-US" dirty="0"/>
              <a:t>Text</a:t>
            </a:r>
            <a:endParaRPr lang="ru-RU" dirty="0"/>
          </a:p>
        </p:txBody>
      </p:sp>
      <p:sp>
        <p:nvSpPr>
          <p:cNvPr id="3" name="Объект 2"/>
          <p:cNvSpPr>
            <a:spLocks noGrp="1"/>
          </p:cNvSpPr>
          <p:nvPr>
            <p:ph idx="1" hasCustomPrompt="1"/>
          </p:nvPr>
        </p:nvSpPr>
        <p:spPr>
          <a:xfrm>
            <a:off x="179512" y="1268760"/>
            <a:ext cx="8712968" cy="532656"/>
          </a:xfrm>
        </p:spPr>
        <p:txBody>
          <a:bodyPr/>
          <a:lstStyle>
            <a:lvl1pPr marL="0" indent="0" algn="ctr">
              <a:buNone/>
              <a:defRPr>
                <a:solidFill>
                  <a:schemeClr val="accent2">
                    <a:lumMod val="75000"/>
                  </a:schemeClr>
                </a:solidFill>
              </a:defRPr>
            </a:lvl1pPr>
            <a:lvl2pPr algn="ctr">
              <a:defRPr/>
            </a:lvl2pPr>
            <a:lvl3pPr algn="ctr">
              <a:defRPr/>
            </a:lvl3pPr>
            <a:lvl4pPr algn="ctr">
              <a:defRPr/>
            </a:lvl4pPr>
            <a:lvl5pPr algn="ctr">
              <a:defRPr/>
            </a:lvl5pPr>
          </a:lstStyle>
          <a:p>
            <a:pPr lvl="0"/>
            <a:r>
              <a:rPr lang="en-US" dirty="0"/>
              <a:t>Text</a:t>
            </a:r>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Рабочий слайд с фотографией">
    <p:spTree>
      <p:nvGrpSpPr>
        <p:cNvPr id="1" name=""/>
        <p:cNvGrpSpPr/>
        <p:nvPr/>
      </p:nvGrpSpPr>
      <p:grpSpPr>
        <a:xfrm>
          <a:off x="0" y="0"/>
          <a:ext cx="0" cy="0"/>
          <a:chOff x="0" y="0"/>
          <a:chExt cx="0" cy="0"/>
        </a:xfrm>
      </p:grpSpPr>
      <p:sp>
        <p:nvSpPr>
          <p:cNvPr id="7" name="Прямоугольник 6"/>
          <p:cNvSpPr/>
          <p:nvPr userDrawn="1"/>
        </p:nvSpPr>
        <p:spPr>
          <a:xfrm>
            <a:off x="179512" y="404664"/>
            <a:ext cx="4752528"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hasCustomPrompt="1"/>
          </p:nvPr>
        </p:nvSpPr>
        <p:spPr>
          <a:xfrm>
            <a:off x="179512" y="404664"/>
            <a:ext cx="4680520" cy="576064"/>
          </a:xfrm>
        </p:spPr>
        <p:txBody>
          <a:bodyPr>
            <a:normAutofit/>
          </a:bodyPr>
          <a:lstStyle>
            <a:lvl1pPr algn="l">
              <a:defRPr sz="3600">
                <a:solidFill>
                  <a:schemeClr val="bg1"/>
                </a:solidFill>
              </a:defRPr>
            </a:lvl1pPr>
          </a:lstStyle>
          <a:p>
            <a:r>
              <a:rPr lang="en-US" dirty="0"/>
              <a:t>Text</a:t>
            </a:r>
            <a:endParaRPr lang="ru-RU" dirty="0"/>
          </a:p>
        </p:txBody>
      </p:sp>
      <p:sp>
        <p:nvSpPr>
          <p:cNvPr id="3" name="Объект 2"/>
          <p:cNvSpPr>
            <a:spLocks noGrp="1"/>
          </p:cNvSpPr>
          <p:nvPr>
            <p:ph idx="1" hasCustomPrompt="1"/>
          </p:nvPr>
        </p:nvSpPr>
        <p:spPr>
          <a:xfrm>
            <a:off x="3491880" y="1268760"/>
            <a:ext cx="5400600" cy="964704"/>
          </a:xfrm>
        </p:spPr>
        <p:txBody>
          <a:bodyPr/>
          <a:lstStyle>
            <a:lvl1pPr marL="0" indent="0" algn="l">
              <a:buNone/>
              <a:defRPr b="1">
                <a:solidFill>
                  <a:schemeClr val="bg1">
                    <a:lumMod val="50000"/>
                  </a:schemeClr>
                </a:solidFill>
              </a:defRPr>
            </a:lvl1pPr>
            <a:lvl2pPr algn="ctr">
              <a:defRPr/>
            </a:lvl2pPr>
            <a:lvl3pPr algn="ctr">
              <a:defRPr/>
            </a:lvl3pPr>
            <a:lvl4pPr algn="ctr">
              <a:defRPr/>
            </a:lvl4pPr>
            <a:lvl5pPr algn="ctr">
              <a:defRPr/>
            </a:lvl5pPr>
          </a:lstStyle>
          <a:p>
            <a:pPr lvl="0"/>
            <a:r>
              <a:rPr lang="en-US" dirty="0"/>
              <a:t>Text</a:t>
            </a:r>
            <a:endParaRPr lang="ru-RU" dirty="0"/>
          </a:p>
        </p:txBody>
      </p:sp>
      <p:sp>
        <p:nvSpPr>
          <p:cNvPr id="5" name="Текст 4"/>
          <p:cNvSpPr>
            <a:spLocks noGrp="1"/>
          </p:cNvSpPr>
          <p:nvPr>
            <p:ph type="body" sz="quarter" idx="10" hasCustomPrompt="1"/>
          </p:nvPr>
        </p:nvSpPr>
        <p:spPr>
          <a:xfrm>
            <a:off x="3492500" y="2305397"/>
            <a:ext cx="5400675" cy="3816350"/>
          </a:xfrm>
        </p:spPr>
        <p:txBody>
          <a:bodyPr>
            <a:normAutofit/>
          </a:bodyPr>
          <a:lstStyle>
            <a:lvl1pPr marL="0" indent="0">
              <a:buNone/>
              <a:defRPr sz="2800">
                <a:solidFill>
                  <a:schemeClr val="bg1">
                    <a:lumMod val="50000"/>
                  </a:schemeClr>
                </a:solidFill>
              </a:defRPr>
            </a:lvl1pPr>
            <a:lvl2pPr marL="457200" indent="0">
              <a:buNone/>
              <a:defRPr sz="2400">
                <a:solidFill>
                  <a:schemeClr val="bg1">
                    <a:lumMod val="50000"/>
                  </a:schemeClr>
                </a:solidFill>
              </a:defRPr>
            </a:lvl2pPr>
            <a:lvl3pPr marL="914400" indent="0">
              <a:buNone/>
              <a:defRPr sz="2000">
                <a:solidFill>
                  <a:schemeClr val="bg1">
                    <a:lumMod val="50000"/>
                  </a:schemeClr>
                </a:solidFill>
              </a:defRPr>
            </a:lvl3pPr>
            <a:lvl4pPr marL="1371600" indent="0">
              <a:buNone/>
              <a:defRPr sz="1800">
                <a:solidFill>
                  <a:schemeClr val="bg1">
                    <a:lumMod val="50000"/>
                  </a:schemeClr>
                </a:solidFill>
              </a:defRPr>
            </a:lvl4pPr>
            <a:lvl5pPr marL="1828800" indent="0">
              <a:buNone/>
              <a:defRPr sz="1800">
                <a:solidFill>
                  <a:schemeClr val="bg1">
                    <a:lumMod val="50000"/>
                  </a:schemeClr>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ru-RU" dirty="0"/>
          </a:p>
        </p:txBody>
      </p:sp>
      <p:sp>
        <p:nvSpPr>
          <p:cNvPr id="8" name="Рисунок 7"/>
          <p:cNvSpPr>
            <a:spLocks noGrp="1"/>
          </p:cNvSpPr>
          <p:nvPr>
            <p:ph type="pic" sz="quarter" idx="11" hasCustomPrompt="1"/>
          </p:nvPr>
        </p:nvSpPr>
        <p:spPr>
          <a:xfrm>
            <a:off x="184870" y="1268760"/>
            <a:ext cx="3168650" cy="3168650"/>
          </a:xfrm>
          <a:solidFill>
            <a:schemeClr val="bg1">
              <a:lumMod val="65000"/>
            </a:schemeClr>
          </a:solidFill>
        </p:spPr>
        <p:txBody>
          <a:bodyPr anchor="ctr"/>
          <a:lstStyle>
            <a:lvl1pPr marL="0" indent="0" algn="ctr">
              <a:buNone/>
              <a:defRPr>
                <a:solidFill>
                  <a:schemeClr val="bg1"/>
                </a:solidFill>
              </a:defRPr>
            </a:lvl1pPr>
          </a:lstStyle>
          <a:p>
            <a:r>
              <a:rPr lang="en-US" dirty="0" err="1"/>
              <a:t>foto</a:t>
            </a:r>
            <a:endParaRPr lang="ru-R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Рабочий слайд">
    <p:spTree>
      <p:nvGrpSpPr>
        <p:cNvPr id="1" name=""/>
        <p:cNvGrpSpPr/>
        <p:nvPr/>
      </p:nvGrpSpPr>
      <p:grpSpPr>
        <a:xfrm>
          <a:off x="0" y="0"/>
          <a:ext cx="0" cy="0"/>
          <a:chOff x="0" y="0"/>
          <a:chExt cx="0" cy="0"/>
        </a:xfrm>
      </p:grpSpPr>
      <p:sp>
        <p:nvSpPr>
          <p:cNvPr id="7" name="Прямоугольник 6"/>
          <p:cNvSpPr/>
          <p:nvPr userDrawn="1"/>
        </p:nvSpPr>
        <p:spPr>
          <a:xfrm>
            <a:off x="179512" y="404664"/>
            <a:ext cx="4752528"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hasCustomPrompt="1"/>
          </p:nvPr>
        </p:nvSpPr>
        <p:spPr>
          <a:xfrm>
            <a:off x="179512" y="404664"/>
            <a:ext cx="4680520" cy="576064"/>
          </a:xfrm>
        </p:spPr>
        <p:txBody>
          <a:bodyPr>
            <a:normAutofit/>
          </a:bodyPr>
          <a:lstStyle>
            <a:lvl1pPr algn="l">
              <a:defRPr sz="3600">
                <a:solidFill>
                  <a:schemeClr val="bg1"/>
                </a:solidFill>
              </a:defRPr>
            </a:lvl1pPr>
          </a:lstStyle>
          <a:p>
            <a:r>
              <a:rPr lang="en-US" dirty="0"/>
              <a:t>Text</a:t>
            </a:r>
            <a:endParaRPr lang="ru-RU" dirty="0"/>
          </a:p>
        </p:txBody>
      </p:sp>
      <p:sp>
        <p:nvSpPr>
          <p:cNvPr id="3" name="Объект 2"/>
          <p:cNvSpPr>
            <a:spLocks noGrp="1"/>
          </p:cNvSpPr>
          <p:nvPr>
            <p:ph idx="1" hasCustomPrompt="1"/>
          </p:nvPr>
        </p:nvSpPr>
        <p:spPr>
          <a:xfrm>
            <a:off x="179512" y="1196752"/>
            <a:ext cx="8712968" cy="532656"/>
          </a:xfrm>
        </p:spPr>
        <p:txBody>
          <a:bodyPr>
            <a:noAutofit/>
          </a:bodyPr>
          <a:lstStyle>
            <a:lvl1pPr marL="0" indent="0" algn="l">
              <a:buNone/>
              <a:defRPr sz="2400" b="1">
                <a:solidFill>
                  <a:schemeClr val="bg1">
                    <a:lumMod val="50000"/>
                  </a:schemeClr>
                </a:solidFill>
              </a:defRPr>
            </a:lvl1pPr>
            <a:lvl2pPr algn="ctr">
              <a:defRPr/>
            </a:lvl2pPr>
            <a:lvl3pPr algn="ctr">
              <a:defRPr/>
            </a:lvl3pPr>
            <a:lvl4pPr algn="ctr">
              <a:defRPr/>
            </a:lvl4pPr>
            <a:lvl5pPr algn="ctr">
              <a:defRPr/>
            </a:lvl5pPr>
          </a:lstStyle>
          <a:p>
            <a:pPr lvl="0"/>
            <a:r>
              <a:rPr lang="en-US" dirty="0"/>
              <a:t>Text</a:t>
            </a:r>
            <a:endParaRPr lang="ru-RU" dirty="0"/>
          </a:p>
        </p:txBody>
      </p:sp>
      <p:sp>
        <p:nvSpPr>
          <p:cNvPr id="5" name="Текст 4"/>
          <p:cNvSpPr>
            <a:spLocks noGrp="1"/>
          </p:cNvSpPr>
          <p:nvPr>
            <p:ph type="body" sz="quarter" idx="10" hasCustomPrompt="1"/>
          </p:nvPr>
        </p:nvSpPr>
        <p:spPr>
          <a:xfrm>
            <a:off x="179388" y="1801589"/>
            <a:ext cx="8713787" cy="4248150"/>
          </a:xfrm>
        </p:spPr>
        <p:txBody>
          <a:bodyPr>
            <a:normAutofit/>
          </a:bodyPr>
          <a:lstStyle>
            <a:lvl1pPr marL="0" indent="0">
              <a:buNone/>
              <a:defRPr sz="2400">
                <a:solidFill>
                  <a:schemeClr val="bg1">
                    <a:lumMod val="50000"/>
                  </a:schemeClr>
                </a:solidFill>
              </a:defRPr>
            </a:lvl1pPr>
            <a:lvl2pPr marL="457200" indent="0">
              <a:buNone/>
              <a:defRPr sz="2000">
                <a:solidFill>
                  <a:schemeClr val="bg1">
                    <a:lumMod val="50000"/>
                  </a:schemeClr>
                </a:solidFill>
              </a:defRPr>
            </a:lvl2pPr>
            <a:lvl3pPr marL="914400" indent="0">
              <a:buNone/>
              <a:defRPr sz="1800">
                <a:solidFill>
                  <a:schemeClr val="bg1">
                    <a:lumMod val="50000"/>
                  </a:schemeClr>
                </a:solidFill>
              </a:defRPr>
            </a:lvl3pPr>
            <a:lvl4pPr marL="1371600" indent="0">
              <a:buNone/>
              <a:defRPr sz="1600">
                <a:solidFill>
                  <a:schemeClr val="bg1">
                    <a:lumMod val="50000"/>
                  </a:schemeClr>
                </a:solidFill>
              </a:defRPr>
            </a:lvl4pPr>
            <a:lvl5pPr marL="1828800" indent="0">
              <a:buNone/>
              <a:defRPr sz="1600">
                <a:solidFill>
                  <a:schemeClr val="bg1">
                    <a:lumMod val="50000"/>
                  </a:schemeClr>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ru-R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Рабочий слайд">
    <p:spTree>
      <p:nvGrpSpPr>
        <p:cNvPr id="1" name=""/>
        <p:cNvGrpSpPr/>
        <p:nvPr/>
      </p:nvGrpSpPr>
      <p:grpSpPr>
        <a:xfrm>
          <a:off x="0" y="0"/>
          <a:ext cx="0" cy="0"/>
          <a:chOff x="0" y="0"/>
          <a:chExt cx="0" cy="0"/>
        </a:xfrm>
      </p:grpSpPr>
      <p:sp>
        <p:nvSpPr>
          <p:cNvPr id="7" name="Прямоугольник 6"/>
          <p:cNvSpPr/>
          <p:nvPr userDrawn="1"/>
        </p:nvSpPr>
        <p:spPr>
          <a:xfrm>
            <a:off x="179512" y="404664"/>
            <a:ext cx="4752528"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hasCustomPrompt="1"/>
          </p:nvPr>
        </p:nvSpPr>
        <p:spPr>
          <a:xfrm>
            <a:off x="179512" y="404664"/>
            <a:ext cx="4680520" cy="576064"/>
          </a:xfrm>
        </p:spPr>
        <p:txBody>
          <a:bodyPr>
            <a:normAutofit/>
          </a:bodyPr>
          <a:lstStyle>
            <a:lvl1pPr algn="l">
              <a:defRPr sz="3600">
                <a:solidFill>
                  <a:schemeClr val="bg1"/>
                </a:solidFill>
              </a:defRPr>
            </a:lvl1pPr>
          </a:lstStyle>
          <a:p>
            <a:r>
              <a:rPr lang="en-US" dirty="0"/>
              <a:t>Text</a:t>
            </a:r>
            <a:endParaRPr lang="ru-RU" dirty="0"/>
          </a:p>
        </p:txBody>
      </p:sp>
      <p:sp>
        <p:nvSpPr>
          <p:cNvPr id="6" name="Рисунок 5"/>
          <p:cNvSpPr>
            <a:spLocks noGrp="1"/>
          </p:cNvSpPr>
          <p:nvPr>
            <p:ph type="pic" sz="quarter" idx="10" hasCustomPrompt="1"/>
          </p:nvPr>
        </p:nvSpPr>
        <p:spPr>
          <a:xfrm>
            <a:off x="179388" y="1125538"/>
            <a:ext cx="8785225" cy="5399087"/>
          </a:xfrm>
          <a:solidFill>
            <a:schemeClr val="bg1">
              <a:lumMod val="65000"/>
            </a:schemeClr>
          </a:solidFill>
        </p:spPr>
        <p:txBody>
          <a:bodyPr anchor="ctr"/>
          <a:lstStyle>
            <a:lvl1pPr marL="0" indent="0" algn="ctr">
              <a:buNone/>
              <a:defRPr>
                <a:solidFill>
                  <a:schemeClr val="bg1"/>
                </a:solidFill>
              </a:defRPr>
            </a:lvl1pPr>
          </a:lstStyle>
          <a:p>
            <a:r>
              <a:rPr lang="en-US" dirty="0" err="1"/>
              <a:t>foto</a:t>
            </a:r>
            <a:endParaRPr lang="ru-R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Рабочи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userDrawn="1"/>
        </p:nvSpPr>
        <p:spPr>
          <a:xfrm>
            <a:off x="4860032" y="5517232"/>
            <a:ext cx="3816424" cy="646331"/>
          </a:xfrm>
          <a:prstGeom prst="rect">
            <a:avLst/>
          </a:prstGeom>
          <a:noFill/>
        </p:spPr>
        <p:txBody>
          <a:bodyPr wrap="square" rtlCol="0">
            <a:spAutoFit/>
          </a:bodyPr>
          <a:lstStyle/>
          <a:p>
            <a:pPr algn="r"/>
            <a:r>
              <a:rPr lang="en-US" dirty="0">
                <a:solidFill>
                  <a:schemeClr val="bg1"/>
                </a:solidFill>
              </a:rPr>
              <a:t>St Petersburg University</a:t>
            </a:r>
          </a:p>
          <a:p>
            <a:pPr algn="r"/>
            <a:r>
              <a:rPr lang="en-US" b="1" dirty="0">
                <a:solidFill>
                  <a:schemeClr val="bg1"/>
                </a:solidFill>
              </a:rPr>
              <a:t>spbu.ru</a:t>
            </a:r>
            <a:endParaRPr lang="ru-RU" b="1" dirty="0">
              <a:solidFill>
                <a:schemeClr val="bg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C7983B2-6E29-409A-92B0-EBD7932440C6}" type="datetimeFigureOut">
              <a:rPr lang="ru-RU" smtClean="0"/>
              <a:t>18.03.2025</a:t>
            </a:fld>
            <a:endParaRPr lang="ru-RU"/>
          </a:p>
        </p:txBody>
      </p:sp>
      <p:sp>
        <p:nvSpPr>
          <p:cNvPr id="3" name="页脚占位符 2"/>
          <p:cNvSpPr>
            <a:spLocks noGrp="1"/>
          </p:cNvSpPr>
          <p:nvPr>
            <p:ph type="ftr" sz="quarter" idx="11"/>
          </p:nvPr>
        </p:nvSpPr>
        <p:spPr/>
        <p:txBody>
          <a:bodyPr/>
          <a:lstStyle/>
          <a:p>
            <a:endParaRPr lang="ru-RU"/>
          </a:p>
        </p:txBody>
      </p:sp>
      <p:sp>
        <p:nvSpPr>
          <p:cNvPr id="4" name="灯片编号占位符 3"/>
          <p:cNvSpPr>
            <a:spLocks noGrp="1"/>
          </p:cNvSpPr>
          <p:nvPr>
            <p:ph type="sldNum" sz="quarter" idx="12"/>
          </p:nvPr>
        </p:nvSpPr>
        <p:spPr/>
        <p:txBody>
          <a:bodyPr/>
          <a:lstStyle/>
          <a:p>
            <a:fld id="{B6743867-4E32-4E2D-8739-58246E7E28D2}"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7983B2-6E29-409A-92B0-EBD7932440C6}" type="datetimeFigureOut">
              <a:rPr lang="ru-RU" smtClean="0"/>
              <a:t>18.03.2025</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743867-4E32-4E2D-8739-58246E7E28D2}"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www.epa.gov/cyanohabs/health-effects-cyanotoxin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одзаголовок 1"/>
          <p:cNvSpPr>
            <a:spLocks noGrp="1"/>
          </p:cNvSpPr>
          <p:nvPr>
            <p:ph type="subTitle" idx="1"/>
          </p:nvPr>
        </p:nvSpPr>
        <p:spPr>
          <a:xfrm>
            <a:off x="4932040" y="5157527"/>
            <a:ext cx="3364396" cy="1872208"/>
          </a:xfrm>
        </p:spPr>
        <p:txBody>
          <a:bodyPr>
            <a:normAutofit/>
          </a:bodyPr>
          <a:lstStyle/>
          <a:p>
            <a:pPr algn="l">
              <a:lnSpc>
                <a:spcPts val="2400"/>
              </a:lnSpc>
            </a:pPr>
            <a:r>
              <a:rPr lang="en-US" altLang="zh-CN" sz="3200" b="1" i="0" dirty="0">
                <a:solidFill>
                  <a:srgbClr val="252424"/>
                </a:solidFill>
                <a:effectLst/>
                <a:latin typeface="Times New Roman" panose="02020603050405020304" pitchFamily="18" charset="0"/>
                <a:cs typeface="Times New Roman" panose="02020603050405020304" pitchFamily="18" charset="0"/>
              </a:rPr>
              <a:t>       </a:t>
            </a:r>
            <a:endParaRPr lang="en-US" altLang="zh-CN" sz="3200" i="0" dirty="0">
              <a:effectLst/>
              <a:latin typeface="Times New Roman" panose="02020603050405020304" pitchFamily="18" charset="0"/>
              <a:cs typeface="Times New Roman" panose="02020603050405020304" pitchFamily="18" charset="0"/>
            </a:endParaRPr>
          </a:p>
          <a:p>
            <a:pPr algn="l">
              <a:lnSpc>
                <a:spcPts val="2400"/>
              </a:lnSpc>
            </a:pPr>
            <a:r>
              <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rPr>
              <a:t>        </a:t>
            </a:r>
          </a:p>
          <a:p>
            <a:pPr algn="l">
              <a:lnSpc>
                <a:spcPts val="2400"/>
              </a:lnSpc>
            </a:pPr>
            <a:r>
              <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rPr>
              <a:t>     </a:t>
            </a:r>
          </a:p>
          <a:p>
            <a:pPr algn="r"/>
            <a:endPar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endParaRPr>
          </a:p>
        </p:txBody>
      </p:sp>
      <p:sp>
        <p:nvSpPr>
          <p:cNvPr id="3" name="Заголовок 2"/>
          <p:cNvSpPr>
            <a:spLocks noGrp="1"/>
          </p:cNvSpPr>
          <p:nvPr>
            <p:ph type="title"/>
          </p:nvPr>
        </p:nvSpPr>
        <p:spPr>
          <a:xfrm>
            <a:off x="539552" y="1772816"/>
            <a:ext cx="8229600" cy="2065784"/>
          </a:xfrm>
        </p:spPr>
        <p:txBody>
          <a:bodyPr>
            <a:normAutofit/>
          </a:bodyPr>
          <a:lstStyle/>
          <a:p>
            <a:pPr algn="ctr"/>
            <a:r>
              <a:rPr lang="en-US" altLang="zh-CN"/>
              <a:t>Group 7</a:t>
            </a:r>
          </a:p>
        </p:txBody>
      </p:sp>
      <p:sp>
        <p:nvSpPr>
          <p:cNvPr id="5" name="文本框 4"/>
          <p:cNvSpPr txBox="1"/>
          <p:nvPr/>
        </p:nvSpPr>
        <p:spPr>
          <a:xfrm>
            <a:off x="6974205" y="4004310"/>
            <a:ext cx="1630680" cy="1198880"/>
          </a:xfrm>
          <a:prstGeom prst="rect">
            <a:avLst/>
          </a:prstGeom>
          <a:noFill/>
        </p:spPr>
        <p:txBody>
          <a:bodyPr wrap="square" rtlCol="0">
            <a:spAutoFit/>
          </a:bodyPr>
          <a:lstStyle/>
          <a:p>
            <a:r>
              <a:rPr lang="en-US" altLang="zh-CN">
                <a:solidFill>
                  <a:schemeClr val="bg1"/>
                </a:solidFill>
              </a:rPr>
              <a:t>Ma Xu</a:t>
            </a:r>
          </a:p>
          <a:p>
            <a:r>
              <a:rPr lang="en-US" altLang="zh-CN">
                <a:solidFill>
                  <a:schemeClr val="bg1"/>
                </a:solidFill>
              </a:rPr>
              <a:t>Fan Jiajie</a:t>
            </a:r>
          </a:p>
          <a:p>
            <a:r>
              <a:rPr lang="en-US" altLang="zh-CN">
                <a:solidFill>
                  <a:schemeClr val="bg1"/>
                </a:solidFill>
              </a:rPr>
              <a:t>Wang Siyun</a:t>
            </a:r>
          </a:p>
          <a:p>
            <a:r>
              <a:rPr lang="en-US" altLang="zh-CN">
                <a:solidFill>
                  <a:schemeClr val="bg1"/>
                </a:solidFill>
              </a:rPr>
              <a:t>Sun Qirui</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404664"/>
            <a:ext cx="4680520" cy="576064"/>
          </a:xfrm>
        </p:spPr>
        <p:txBody>
          <a:bodyPr>
            <a:noAutofit/>
          </a:bodyPr>
          <a:lstStyle/>
          <a:p>
            <a:r>
              <a:rPr lang="en-US" altLang="zh-CN" sz="3200" dirty="0">
                <a:latin typeface="Times New Roman" panose="02020603050405020304" pitchFamily="18" charset="0"/>
                <a:cs typeface="Times New Roman" panose="02020603050405020304" pitchFamily="18" charset="0"/>
              </a:rPr>
              <a:t>biological</a:t>
            </a:r>
          </a:p>
        </p:txBody>
      </p:sp>
      <p:sp>
        <p:nvSpPr>
          <p:cNvPr id="4" name="矩形 3"/>
          <p:cNvSpPr/>
          <p:nvPr/>
        </p:nvSpPr>
        <p:spPr>
          <a:xfrm>
            <a:off x="107315" y="1297305"/>
            <a:ext cx="8785225" cy="4566285"/>
          </a:xfrm>
          <a:prstGeom prst="rect">
            <a:avLst/>
          </a:prstGeom>
          <a:noFill/>
        </p:spPr>
        <p:txBody>
          <a:bodyPr wrap="square" lIns="91440" tIns="45720" rIns="91440" bIns="45720">
            <a:noAutofit/>
          </a:bodyPr>
          <a:lstStyle/>
          <a:p>
            <a:endParaRPr lang="en-US" altLang="zh-CN" sz="2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54EA2215-4159-BA6F-BE82-03A6ED34A49E}"/>
              </a:ext>
            </a:extLst>
          </p:cNvPr>
          <p:cNvSpPr txBox="1"/>
          <p:nvPr/>
        </p:nvSpPr>
        <p:spPr>
          <a:xfrm>
            <a:off x="333342" y="1266073"/>
            <a:ext cx="7551026" cy="369332"/>
          </a:xfrm>
          <a:prstGeom prst="rect">
            <a:avLst/>
          </a:prstGeom>
          <a:noFill/>
        </p:spPr>
        <p:txBody>
          <a:bodyPr wrap="square">
            <a:spAutoFit/>
          </a:bodyPr>
          <a:lstStyle/>
          <a:p>
            <a:r>
              <a:rPr lang="en-US" altLang="zh-CN" dirty="0">
                <a:solidFill>
                  <a:srgbClr val="212529"/>
                </a:solidFill>
                <a:latin typeface="Times New Roman" panose="02020603050405020304" pitchFamily="18" charset="0"/>
                <a:cs typeface="Times New Roman" panose="02020603050405020304" pitchFamily="18" charset="0"/>
              </a:rPr>
              <a:t> One of the major types of Harmful Algal Bloom is </a:t>
            </a:r>
            <a:r>
              <a:rPr lang="en-US" altLang="zh-CN" dirty="0">
                <a:solidFill>
                  <a:srgbClr val="212529"/>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cyanobacteria</a:t>
            </a:r>
            <a:endParaRPr lang="en-US" dirty="0">
              <a:solidFill>
                <a:srgbClr val="212529"/>
              </a:solidFill>
              <a:latin typeface="Times New Roman" panose="02020603050405020304" pitchFamily="18" charset="0"/>
              <a:cs typeface="Times New Roman" panose="02020603050405020304" pitchFamily="18" charset="0"/>
            </a:endParaRPr>
          </a:p>
        </p:txBody>
      </p:sp>
      <p:pic>
        <p:nvPicPr>
          <p:cNvPr id="9" name="图片 8" descr="绿色的船在水上&#10;&#10;AI 生成的内容可能不正确。">
            <a:extLst>
              <a:ext uri="{FF2B5EF4-FFF2-40B4-BE49-F238E27FC236}">
                <a16:creationId xmlns:a16="http://schemas.microsoft.com/office/drawing/2014/main" id="{5D5B7F45-1812-1919-5ADF-DD09B9B1BA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8686" y="1823078"/>
            <a:ext cx="3816855" cy="2542026"/>
          </a:xfrm>
          <a:prstGeom prst="rect">
            <a:avLst/>
          </a:prstGeom>
        </p:spPr>
      </p:pic>
      <p:sp>
        <p:nvSpPr>
          <p:cNvPr id="11" name="文本框 10">
            <a:extLst>
              <a:ext uri="{FF2B5EF4-FFF2-40B4-BE49-F238E27FC236}">
                <a16:creationId xmlns:a16="http://schemas.microsoft.com/office/drawing/2014/main" id="{B8643EAA-0C2B-E95A-2623-F107DA050633}"/>
              </a:ext>
            </a:extLst>
          </p:cNvPr>
          <p:cNvSpPr txBox="1"/>
          <p:nvPr/>
        </p:nvSpPr>
        <p:spPr>
          <a:xfrm>
            <a:off x="4499927" y="1666637"/>
            <a:ext cx="4320541" cy="2951064"/>
          </a:xfrm>
          <a:prstGeom prst="rect">
            <a:avLst/>
          </a:prstGeom>
          <a:noFill/>
        </p:spPr>
        <p:txBody>
          <a:bodyPr wrap="square">
            <a:spAutoFit/>
          </a:bodyPr>
          <a:lstStyle/>
          <a:p>
            <a:pPr indent="457200">
              <a:lnSpc>
                <a:spcPct val="150000"/>
              </a:lnSpc>
            </a:pPr>
            <a:r>
              <a:rPr lang="en-US" altLang="zh-CN" b="0" i="0" dirty="0">
                <a:effectLst/>
                <a:latin typeface="Times New Roman" panose="02020603050405020304" pitchFamily="18" charset="0"/>
                <a:cs typeface="Times New Roman" panose="02020603050405020304" pitchFamily="18" charset="0"/>
              </a:rPr>
              <a:t>Cyanobacterial bloom is a phenomenon in which cyanobacteria bloom in a water body under specific environmental conditions, forming a thick or thin layer of </a:t>
            </a:r>
            <a:r>
              <a:rPr lang="en-US" altLang="zh-CN" b="0" i="0" dirty="0">
                <a:solidFill>
                  <a:srgbClr val="FF0000"/>
                </a:solidFill>
                <a:effectLst/>
                <a:highlight>
                  <a:srgbClr val="FFFF00"/>
                </a:highlight>
                <a:latin typeface="Times New Roman" panose="02020603050405020304" pitchFamily="18" charset="0"/>
                <a:cs typeface="Times New Roman" panose="02020603050405020304" pitchFamily="18" charset="0"/>
              </a:rPr>
              <a:t>green</a:t>
            </a:r>
            <a:r>
              <a:rPr lang="en-US" altLang="zh-CN" b="0" i="0" dirty="0">
                <a:effectLst/>
                <a:latin typeface="Times New Roman" panose="02020603050405020304" pitchFamily="18" charset="0"/>
                <a:cs typeface="Times New Roman" panose="02020603050405020304" pitchFamily="18" charset="0"/>
              </a:rPr>
              <a:t>, </a:t>
            </a:r>
            <a:r>
              <a:rPr lang="en-US" altLang="zh-CN" b="0" i="0" dirty="0">
                <a:solidFill>
                  <a:srgbClr val="FF0000"/>
                </a:solidFill>
                <a:effectLst/>
                <a:highlight>
                  <a:srgbClr val="FFFF00"/>
                </a:highlight>
                <a:latin typeface="Times New Roman" panose="02020603050405020304" pitchFamily="18" charset="0"/>
                <a:cs typeface="Times New Roman" panose="02020603050405020304" pitchFamily="18" charset="0"/>
              </a:rPr>
              <a:t>blue-green</a:t>
            </a:r>
            <a:r>
              <a:rPr lang="en-US" altLang="zh-CN" b="0" i="0" dirty="0">
                <a:effectLst/>
                <a:latin typeface="Times New Roman" panose="02020603050405020304" pitchFamily="18" charset="0"/>
                <a:cs typeface="Times New Roman" panose="02020603050405020304" pitchFamily="18" charset="0"/>
              </a:rPr>
              <a:t> or other colors of floating foam, gelatinous material or algal mats on the water surface.</a:t>
            </a:r>
            <a:endParaRPr 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1250926A-F72A-333B-6002-F8E62F9A0434}"/>
              </a:ext>
            </a:extLst>
          </p:cNvPr>
          <p:cNvSpPr txBox="1"/>
          <p:nvPr/>
        </p:nvSpPr>
        <p:spPr>
          <a:xfrm>
            <a:off x="755576" y="4648933"/>
            <a:ext cx="7848872" cy="1631216"/>
          </a:xfrm>
          <a:prstGeom prst="rect">
            <a:avLst/>
          </a:prstGeom>
          <a:noFill/>
        </p:spPr>
        <p:txBody>
          <a:bodyPr wrap="square">
            <a:spAutoFit/>
          </a:bodyPr>
          <a:lstStyle/>
          <a:p>
            <a:pPr algn="l">
              <a:spcBef>
                <a:spcPts val="300"/>
              </a:spcBef>
              <a:spcAft>
                <a:spcPts val="300"/>
              </a:spcAft>
            </a:pPr>
            <a:r>
              <a:rPr lang="en-US" altLang="zh-CN" i="0" dirty="0">
                <a:effectLst/>
                <a:latin typeface="Times New Roman" panose="02020603050405020304" pitchFamily="18" charset="0"/>
                <a:cs typeface="Times New Roman" panose="02020603050405020304" pitchFamily="18" charset="0"/>
              </a:rPr>
              <a:t>Competitive advantage of cyanobacteria:</a:t>
            </a:r>
          </a:p>
          <a:p>
            <a:pPr algn="l">
              <a:spcBef>
                <a:spcPts val="300"/>
              </a:spcBef>
              <a:spcAft>
                <a:spcPts val="300"/>
              </a:spcAft>
            </a:pPr>
            <a:r>
              <a:rPr lang="en-US" altLang="zh-CN" b="0" i="0" dirty="0">
                <a:effectLst/>
                <a:latin typeface="Times New Roman" panose="02020603050405020304" pitchFamily="18" charset="0"/>
                <a:cs typeface="Times New Roman" panose="02020603050405020304" pitchFamily="18" charset="0"/>
              </a:rPr>
              <a:t>     Cyanobacteria have air sacs that regulate their buoyancy and </a:t>
            </a:r>
            <a:r>
              <a:rPr lang="en-US" altLang="zh-CN" b="0" i="0" dirty="0">
                <a:effectLst/>
                <a:highlight>
                  <a:srgbClr val="FFFF00"/>
                </a:highlight>
                <a:latin typeface="Times New Roman" panose="02020603050405020304" pitchFamily="18" charset="0"/>
                <a:cs typeface="Times New Roman" panose="02020603050405020304" pitchFamily="18" charset="0"/>
              </a:rPr>
              <a:t>occupy light dominant zones on the surface of the water.</a:t>
            </a:r>
          </a:p>
          <a:p>
            <a:pPr algn="l">
              <a:spcBef>
                <a:spcPts val="300"/>
              </a:spcBef>
              <a:spcAft>
                <a:spcPts val="300"/>
              </a:spcAft>
            </a:pPr>
            <a:r>
              <a:rPr lang="en-US" altLang="zh-CN" b="0" i="0" dirty="0">
                <a:effectLst/>
                <a:latin typeface="Times New Roman" panose="02020603050405020304" pitchFamily="18" charset="0"/>
                <a:cs typeface="Times New Roman" panose="02020603050405020304" pitchFamily="18" charset="0"/>
              </a:rPr>
              <a:t>     Some cyanobacteria secrete toxins that inhibit competition from other algae or aquatic organisms.</a:t>
            </a:r>
            <a:endParaRPr lang="zh-CN" altLang="en-US"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4115BE-E5CE-E381-109F-7868C90C5D94}"/>
              </a:ext>
            </a:extLst>
          </p:cNvPr>
          <p:cNvSpPr>
            <a:spLocks noGrp="1"/>
          </p:cNvSpPr>
          <p:nvPr>
            <p:ph type="title"/>
          </p:nvPr>
        </p:nvSpPr>
        <p:spPr/>
        <p:txBody>
          <a:bodyPr>
            <a:normAutofit fontScale="90000"/>
          </a:bodyPr>
          <a:lstStyle/>
          <a:p>
            <a:r>
              <a:rPr lang="en-US" altLang="zh-CN" sz="3600" dirty="0">
                <a:latin typeface="Times New Roman" panose="02020603050405020304" pitchFamily="18" charset="0"/>
                <a:cs typeface="Times New Roman" panose="02020603050405020304" pitchFamily="18" charset="0"/>
              </a:rPr>
              <a:t>biological</a:t>
            </a:r>
            <a:endParaRPr lang="en-US" dirty="0"/>
          </a:p>
        </p:txBody>
      </p:sp>
      <p:sp>
        <p:nvSpPr>
          <p:cNvPr id="4" name="文本框 3">
            <a:extLst>
              <a:ext uri="{FF2B5EF4-FFF2-40B4-BE49-F238E27FC236}">
                <a16:creationId xmlns:a16="http://schemas.microsoft.com/office/drawing/2014/main" id="{D8EE2DA9-501A-45DA-1DDC-91FC17BCBE9B}"/>
              </a:ext>
            </a:extLst>
          </p:cNvPr>
          <p:cNvSpPr txBox="1"/>
          <p:nvPr/>
        </p:nvSpPr>
        <p:spPr>
          <a:xfrm>
            <a:off x="239152" y="1484784"/>
            <a:ext cx="8872393" cy="5143972"/>
          </a:xfrm>
          <a:prstGeom prst="rect">
            <a:avLst/>
          </a:prstGeom>
          <a:noFill/>
        </p:spPr>
        <p:txBody>
          <a:bodyPr wrap="square">
            <a:spAutoFit/>
          </a:bodyPr>
          <a:lstStyle/>
          <a:p>
            <a:pPr algn="l">
              <a:lnSpc>
                <a:spcPct val="150000"/>
              </a:lnSpc>
              <a:spcAft>
                <a:spcPts val="300"/>
              </a:spcAft>
              <a:buNone/>
            </a:pPr>
            <a:r>
              <a:rPr lang="en-US" altLang="zh-CN" b="1" i="0" dirty="0">
                <a:effectLst/>
                <a:latin typeface="Times New Roman" panose="02020603050405020304" pitchFamily="18" charset="0"/>
                <a:cs typeface="Times New Roman" panose="02020603050405020304" pitchFamily="18" charset="0"/>
              </a:rPr>
              <a:t>Rich in nutrients:</a:t>
            </a:r>
          </a:p>
          <a:p>
            <a:pPr indent="457200" algn="l">
              <a:lnSpc>
                <a:spcPct val="150000"/>
              </a:lnSpc>
              <a:spcAft>
                <a:spcPts val="300"/>
              </a:spcAft>
              <a:buNone/>
            </a:pPr>
            <a:r>
              <a:rPr lang="en-US" altLang="zh-CN" b="0" i="0" dirty="0">
                <a:effectLst/>
                <a:latin typeface="Times New Roman" panose="02020603050405020304" pitchFamily="18" charset="0"/>
                <a:cs typeface="Times New Roman" panose="02020603050405020304" pitchFamily="18" charset="0"/>
              </a:rPr>
              <a:t>Excessive content of nitrogen, phosphorus and other nutrients in water bodies is one of the main reasons for the formation of cyanobacterial blooms. For example, the discharge of industrial wastewater, domestic sewage and agricultural surface pollution can cause a large amount of nitrogen, phosphorus and other nutrients to enter the water body, providing sufficient nutrients for the growth of cyanobacteria.</a:t>
            </a:r>
          </a:p>
          <a:p>
            <a:pPr algn="l">
              <a:lnSpc>
                <a:spcPct val="150000"/>
              </a:lnSpc>
              <a:spcAft>
                <a:spcPts val="300"/>
              </a:spcAft>
              <a:buNone/>
            </a:pPr>
            <a:r>
              <a:rPr lang="en-US" altLang="zh-CN" b="1" i="0" dirty="0">
                <a:effectLst/>
                <a:latin typeface="Times New Roman" panose="02020603050405020304" pitchFamily="18" charset="0"/>
                <a:cs typeface="Times New Roman" panose="02020603050405020304" pitchFamily="18" charset="0"/>
              </a:rPr>
              <a:t>Suitable environmental conditions:</a:t>
            </a:r>
            <a:r>
              <a:rPr lang="en-US" altLang="zh-CN" b="0" i="0" dirty="0">
                <a:effectLst/>
                <a:latin typeface="Times New Roman" panose="02020603050405020304" pitchFamily="18" charset="0"/>
                <a:cs typeface="Times New Roman" panose="02020603050405020304" pitchFamily="18" charset="0"/>
              </a:rPr>
              <a:t> </a:t>
            </a:r>
          </a:p>
          <a:p>
            <a:pPr indent="457200" algn="l">
              <a:lnSpc>
                <a:spcPct val="150000"/>
              </a:lnSpc>
              <a:spcAft>
                <a:spcPts val="300"/>
              </a:spcAft>
              <a:buNone/>
            </a:pPr>
            <a:r>
              <a:rPr lang="en-US" altLang="zh-CN" b="0" i="0" dirty="0">
                <a:effectLst/>
                <a:latin typeface="Times New Roman" panose="02020603050405020304" pitchFamily="18" charset="0"/>
                <a:cs typeface="Times New Roman" panose="02020603050405020304" pitchFamily="18" charset="0"/>
              </a:rPr>
              <a:t>Cyanobacteria are suitable for growth in </a:t>
            </a:r>
            <a:r>
              <a:rPr lang="en-US" altLang="zh-CN" b="0" i="0" dirty="0">
                <a:solidFill>
                  <a:srgbClr val="FF0000"/>
                </a:solidFill>
                <a:effectLst/>
                <a:highlight>
                  <a:srgbClr val="FFFF00"/>
                </a:highlight>
                <a:latin typeface="Times New Roman" panose="02020603050405020304" pitchFamily="18" charset="0"/>
                <a:cs typeface="Times New Roman" panose="02020603050405020304" pitchFamily="18" charset="0"/>
              </a:rPr>
              <a:t>high temperatures, strong light and still water</a:t>
            </a:r>
            <a:r>
              <a:rPr lang="en-US" altLang="zh-CN" b="0" i="0" dirty="0">
                <a:effectLst/>
                <a:latin typeface="Times New Roman" panose="02020603050405020304" pitchFamily="18" charset="0"/>
                <a:cs typeface="Times New Roman" panose="02020603050405020304" pitchFamily="18" charset="0"/>
              </a:rPr>
              <a:t>. In summer, the environment of water body with high water temperature, long light time and slow water current is favorable for cyanobacterial bloom. In addition, the pH value of the water body, </a:t>
            </a:r>
            <a:r>
              <a:rPr lang="en-US" altLang="zh-CN" b="0" i="0" dirty="0">
                <a:effectLst/>
                <a:highlight>
                  <a:srgbClr val="FFFF00"/>
                </a:highlight>
                <a:latin typeface="Times New Roman" panose="02020603050405020304" pitchFamily="18" charset="0"/>
                <a:cs typeface="Times New Roman" panose="02020603050405020304" pitchFamily="18" charset="0"/>
              </a:rPr>
              <a:t>dissolved oxygen</a:t>
            </a:r>
            <a:r>
              <a:rPr lang="en-US" altLang="zh-CN" b="0" i="0" dirty="0">
                <a:effectLst/>
                <a:latin typeface="Times New Roman" panose="02020603050405020304" pitchFamily="18" charset="0"/>
                <a:cs typeface="Times New Roman" panose="02020603050405020304" pitchFamily="18" charset="0"/>
              </a:rPr>
              <a:t> and other factors will also affect the growth and reproduction of cyanobacteria.</a:t>
            </a:r>
            <a:endParaRPr lang="zh-CN" altLang="en-US" b="0" i="0" dirty="0">
              <a:effectLst/>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7FDAF80B-79E7-946D-F1FC-59BC557106F1}"/>
              </a:ext>
            </a:extLst>
          </p:cNvPr>
          <p:cNvSpPr txBox="1"/>
          <p:nvPr/>
        </p:nvSpPr>
        <p:spPr>
          <a:xfrm>
            <a:off x="271607" y="1172044"/>
            <a:ext cx="4609322" cy="461665"/>
          </a:xfrm>
          <a:prstGeom prst="rect">
            <a:avLst/>
          </a:prstGeom>
          <a:noFill/>
        </p:spPr>
        <p:txBody>
          <a:bodyPr wrap="square">
            <a:spAutoFit/>
          </a:bodyPr>
          <a:lstStyle/>
          <a:p>
            <a:r>
              <a:rPr lang="en-US" altLang="zh-CN" sz="2400" b="1" i="0" dirty="0">
                <a:effectLst/>
                <a:latin typeface="Times New Roman" panose="02020603050405020304" pitchFamily="18" charset="0"/>
                <a:cs typeface="Times New Roman" panose="02020603050405020304" pitchFamily="18" charset="0"/>
              </a:rPr>
              <a:t>Causes of formation</a:t>
            </a:r>
            <a:endParaRPr lang="en-US" sz="2400" dirty="0"/>
          </a:p>
        </p:txBody>
      </p:sp>
    </p:spTree>
    <p:extLst>
      <p:ext uri="{BB962C8B-B14F-4D97-AF65-F5344CB8AC3E}">
        <p14:creationId xmlns:p14="http://schemas.microsoft.com/office/powerpoint/2010/main" val="2249333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404664"/>
            <a:ext cx="8568952" cy="576064"/>
          </a:xfrm>
        </p:spPr>
        <p:txBody>
          <a:bodyPr>
            <a:noAutofit/>
          </a:bodyPr>
          <a:lstStyle/>
          <a:p>
            <a:r>
              <a:rPr lang="en-US" altLang="zh-CN" sz="3200" dirty="0">
                <a:solidFill>
                  <a:schemeClr val="tx1"/>
                </a:solidFill>
                <a:latin typeface="Times New Roman" panose="02020603050405020304" pitchFamily="18" charset="0"/>
                <a:cs typeface="Times New Roman" panose="02020603050405020304" pitchFamily="18" charset="0"/>
              </a:rPr>
              <a:t>High-Resolution Rapid Refresh (HRRR)</a:t>
            </a:r>
            <a:endParaRPr lang="en-US" altLang="zh-CN" sz="3200" dirty="0">
              <a:latin typeface="Times New Roman" panose="02020603050405020304" pitchFamily="18" charset="0"/>
              <a:cs typeface="Times New Roman" panose="02020603050405020304" pitchFamily="18" charset="0"/>
            </a:endParaRPr>
          </a:p>
        </p:txBody>
      </p:sp>
      <p:sp>
        <p:nvSpPr>
          <p:cNvPr id="4" name="矩形 3"/>
          <p:cNvSpPr/>
          <p:nvPr/>
        </p:nvSpPr>
        <p:spPr>
          <a:xfrm>
            <a:off x="107315" y="1297305"/>
            <a:ext cx="8785225" cy="4566285"/>
          </a:xfrm>
          <a:prstGeom prst="rect">
            <a:avLst/>
          </a:prstGeom>
          <a:noFill/>
        </p:spPr>
        <p:txBody>
          <a:bodyPr wrap="square" lIns="91440" tIns="45720" rIns="91440" bIns="45720">
            <a:noAutofit/>
          </a:bodyPr>
          <a:lstStyle/>
          <a:p>
            <a:pPr indent="457200"/>
            <a:endParaRPr lang="en-US" altLang="zh-CN" sz="2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C8B75A9C-76B7-55E8-BE23-C399A6E94F90}"/>
              </a:ext>
            </a:extLst>
          </p:cNvPr>
          <p:cNvPicPr>
            <a:picLocks noChangeAspect="1"/>
          </p:cNvPicPr>
          <p:nvPr/>
        </p:nvPicPr>
        <p:blipFill>
          <a:blip r:embed="rId2"/>
          <a:stretch>
            <a:fillRect/>
          </a:stretch>
        </p:blipFill>
        <p:spPr>
          <a:xfrm>
            <a:off x="197400" y="1360791"/>
            <a:ext cx="4479936" cy="4232153"/>
          </a:xfrm>
          <a:prstGeom prst="rect">
            <a:avLst/>
          </a:prstGeom>
        </p:spPr>
      </p:pic>
      <p:pic>
        <p:nvPicPr>
          <p:cNvPr id="7" name="图片 6">
            <a:extLst>
              <a:ext uri="{FF2B5EF4-FFF2-40B4-BE49-F238E27FC236}">
                <a16:creationId xmlns:a16="http://schemas.microsoft.com/office/drawing/2014/main" id="{79631955-7EDC-D6A2-0912-E2780647FCD2}"/>
              </a:ext>
            </a:extLst>
          </p:cNvPr>
          <p:cNvPicPr>
            <a:picLocks noChangeAspect="1"/>
          </p:cNvPicPr>
          <p:nvPr/>
        </p:nvPicPr>
        <p:blipFill>
          <a:blip r:embed="rId3"/>
          <a:stretch>
            <a:fillRect/>
          </a:stretch>
        </p:blipFill>
        <p:spPr>
          <a:xfrm>
            <a:off x="4667611" y="1524416"/>
            <a:ext cx="4376579" cy="41120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404664"/>
            <a:ext cx="8568952" cy="576064"/>
          </a:xfrm>
        </p:spPr>
        <p:txBody>
          <a:bodyPr>
            <a:noAutofit/>
          </a:bodyPr>
          <a:lstStyle/>
          <a:p>
            <a:r>
              <a:rPr lang="en-US" altLang="zh-CN" dirty="0">
                <a:solidFill>
                  <a:schemeClr val="tx1"/>
                </a:solidFill>
                <a:latin typeface="Times New Roman" panose="02020603050405020304" pitchFamily="18" charset="0"/>
                <a:cs typeface="Times New Roman" panose="02020603050405020304" pitchFamily="18" charset="0"/>
              </a:rPr>
              <a:t>High-Resolution Rapid Refresh (HRRR)</a:t>
            </a:r>
          </a:p>
        </p:txBody>
      </p:sp>
      <p:sp>
        <p:nvSpPr>
          <p:cNvPr id="4" name="矩形 3"/>
          <p:cNvSpPr/>
          <p:nvPr/>
        </p:nvSpPr>
        <p:spPr>
          <a:xfrm>
            <a:off x="107315" y="1297305"/>
            <a:ext cx="8785225" cy="4566285"/>
          </a:xfrm>
          <a:prstGeom prst="rect">
            <a:avLst/>
          </a:prstGeom>
          <a:noFill/>
        </p:spPr>
        <p:txBody>
          <a:bodyPr wrap="square" lIns="91440" tIns="45720" rIns="91440" bIns="45720">
            <a:noAutofit/>
          </a:bodyPr>
          <a:lstStyle/>
          <a:p>
            <a:pPr indent="457200"/>
            <a:endParaRPr lang="en-US" altLang="zh-CN" sz="2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E05E2026-5140-142F-A798-D8596EF2D905}"/>
              </a:ext>
            </a:extLst>
          </p:cNvPr>
          <p:cNvSpPr txBox="1"/>
          <p:nvPr/>
        </p:nvSpPr>
        <p:spPr>
          <a:xfrm>
            <a:off x="183139" y="1340768"/>
            <a:ext cx="8633575" cy="923330"/>
          </a:xfrm>
          <a:prstGeom prst="rect">
            <a:avLst/>
          </a:prstGeom>
          <a:noFill/>
        </p:spPr>
        <p:txBody>
          <a:bodyPr wrap="square">
            <a:spAutoFit/>
          </a:bodyPr>
          <a:lstStyle/>
          <a:p>
            <a:r>
              <a:rPr lang="en-US" altLang="zh-CN" b="0" i="0" dirty="0">
                <a:solidFill>
                  <a:srgbClr val="404040"/>
                </a:solidFill>
                <a:effectLst/>
                <a:latin typeface="Times New Roman" panose="02020603050405020304" pitchFamily="18" charset="0"/>
                <a:cs typeface="Times New Roman" panose="02020603050405020304" pitchFamily="18" charset="0"/>
              </a:rPr>
              <a:t>Provides short-term high-resolution weather forecasts, with particular attention to convective weather (e.g., thunderstorms, heavy precipitation), cold temperatures, fog, and wind shear.</a:t>
            </a:r>
            <a:endParaRPr lang="en-US"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E635394-8112-47FE-5E11-B90DA586F4D9}"/>
              </a:ext>
            </a:extLst>
          </p:cNvPr>
          <p:cNvSpPr txBox="1"/>
          <p:nvPr/>
        </p:nvSpPr>
        <p:spPr>
          <a:xfrm>
            <a:off x="251460" y="2420888"/>
            <a:ext cx="8244408" cy="923330"/>
          </a:xfrm>
          <a:prstGeom prst="rect">
            <a:avLst/>
          </a:prstGeom>
          <a:noFill/>
        </p:spPr>
        <p:txBody>
          <a:bodyPr wrap="square">
            <a:spAutoFit/>
          </a:bodyPr>
          <a:lstStyle/>
          <a:p>
            <a:pPr algn="l">
              <a:spcBef>
                <a:spcPts val="300"/>
              </a:spcBef>
            </a:pPr>
            <a:r>
              <a:rPr lang="en-US" altLang="zh-CN" b="0" i="0" dirty="0">
                <a:solidFill>
                  <a:srgbClr val="404040"/>
                </a:solidFill>
                <a:effectLst/>
                <a:latin typeface="Times New Roman" panose="02020603050405020304" pitchFamily="18" charset="0"/>
                <a:cs typeface="Times New Roman" panose="02020603050405020304" pitchFamily="18" charset="0"/>
              </a:rPr>
              <a:t>Integration of real-time data from radar, satellites, ground observatories, and sounding balloons, combined with advanced physical parameterization schemes to enhance forecast accuracy.</a:t>
            </a:r>
            <a:endParaRPr lang="zh-CN" altLang="en-US" b="0" i="0" dirty="0">
              <a:solidFill>
                <a:srgbClr val="404040"/>
              </a:solidFill>
              <a:effectLst/>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EC81742B-FAA3-12A1-2AE9-DA73660D3B67}"/>
              </a:ext>
            </a:extLst>
          </p:cNvPr>
          <p:cNvSpPr txBox="1"/>
          <p:nvPr/>
        </p:nvSpPr>
        <p:spPr>
          <a:xfrm>
            <a:off x="214888" y="3501008"/>
            <a:ext cx="8677652" cy="923330"/>
          </a:xfrm>
          <a:prstGeom prst="rect">
            <a:avLst/>
          </a:prstGeom>
          <a:noFill/>
        </p:spPr>
        <p:txBody>
          <a:bodyPr wrap="square">
            <a:spAutoFit/>
          </a:bodyPr>
          <a:lstStyle/>
          <a:p>
            <a:pPr algn="l">
              <a:spcBef>
                <a:spcPts val="300"/>
              </a:spcBef>
            </a:pPr>
            <a:r>
              <a:rPr lang="en-US" altLang="zh-CN" b="0" i="0" dirty="0">
                <a:solidFill>
                  <a:srgbClr val="404040"/>
                </a:solidFill>
                <a:effectLst/>
                <a:latin typeface="Times New Roman" panose="02020603050405020304" pitchFamily="18" charset="0"/>
                <a:cs typeface="Times New Roman" panose="02020603050405020304" pitchFamily="18" charset="0"/>
              </a:rPr>
              <a:t>The grid is spaced at 3-kilometer intervals and covers the continental U.S. and surrounding areas, providing fine-grained geographic information (e.g., topography, surface features) that is suitable for the prediction of localized weather phenomena.</a:t>
            </a:r>
            <a:endParaRPr lang="zh-CN" altLang="en-US" b="0" i="0" dirty="0">
              <a:solidFill>
                <a:srgbClr val="404040"/>
              </a:solidFill>
              <a:effectLst/>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0BB9BFB4-DAC1-C3B4-42FA-D360087C3555}"/>
              </a:ext>
            </a:extLst>
          </p:cNvPr>
          <p:cNvSpPr txBox="1"/>
          <p:nvPr/>
        </p:nvSpPr>
        <p:spPr>
          <a:xfrm>
            <a:off x="280060" y="4593902"/>
            <a:ext cx="8677651" cy="1200329"/>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For example, high temperatures and low wind speeds may promote algal growth. Precipitation may affect nutrient inputs. Climate data need to be aligned with sampling dates and locations, and time-series sliding-window statistics may be required, such as average temperatures over the past week.</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404664"/>
            <a:ext cx="4680520" cy="576064"/>
          </a:xfrm>
        </p:spPr>
        <p:txBody>
          <a:bodyPr>
            <a:noAutofit/>
          </a:bodyPr>
          <a:lstStyle/>
          <a:p>
            <a:r>
              <a:rPr lang="en-US" altLang="zh-CN" sz="2800" b="0" i="0" dirty="0">
                <a:effectLst/>
                <a:latin typeface="Times New Roman" panose="02020603050405020304" pitchFamily="18" charset="0"/>
                <a:cs typeface="Times New Roman" panose="02020603050405020304" pitchFamily="18" charset="0"/>
              </a:rPr>
              <a:t>Elevation data</a:t>
            </a:r>
            <a:endParaRPr lang="en-US" altLang="zh-CN" sz="4800" dirty="0">
              <a:latin typeface="Times New Roman" panose="02020603050405020304" pitchFamily="18" charset="0"/>
              <a:cs typeface="Times New Roman" panose="02020603050405020304" pitchFamily="18" charset="0"/>
            </a:endParaRPr>
          </a:p>
        </p:txBody>
      </p:sp>
      <p:sp>
        <p:nvSpPr>
          <p:cNvPr id="4" name="矩形 3"/>
          <p:cNvSpPr/>
          <p:nvPr/>
        </p:nvSpPr>
        <p:spPr>
          <a:xfrm>
            <a:off x="107315" y="1297305"/>
            <a:ext cx="8785225" cy="4566285"/>
          </a:xfrm>
          <a:prstGeom prst="rect">
            <a:avLst/>
          </a:prstGeom>
          <a:noFill/>
        </p:spPr>
        <p:txBody>
          <a:bodyPr wrap="square" lIns="91440" tIns="45720" rIns="91440" bIns="45720">
            <a:noAutofit/>
          </a:bodyPr>
          <a:lstStyle/>
          <a:p>
            <a:pPr indent="457200"/>
            <a:endParaRPr lang="en-US" altLang="zh-CN" sz="2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文本框 2"/>
          <p:cNvSpPr txBox="1"/>
          <p:nvPr/>
        </p:nvSpPr>
        <p:spPr>
          <a:xfrm>
            <a:off x="3994150" y="745490"/>
            <a:ext cx="3048000" cy="368300"/>
          </a:xfrm>
          <a:prstGeom prst="rect">
            <a:avLst/>
          </a:prstGeom>
          <a:noFill/>
        </p:spPr>
        <p:txBody>
          <a:bodyPr wrap="square" rtlCol="0">
            <a:spAutoFit/>
          </a:bodyPr>
          <a:lstStyle/>
          <a:p>
            <a:endParaRPr lang="zh-CN" altLang="en-US"/>
          </a:p>
        </p:txBody>
      </p:sp>
      <p:sp>
        <p:nvSpPr>
          <p:cNvPr id="7" name="文本框 6">
            <a:extLst>
              <a:ext uri="{FF2B5EF4-FFF2-40B4-BE49-F238E27FC236}">
                <a16:creationId xmlns:a16="http://schemas.microsoft.com/office/drawing/2014/main" id="{375B4E07-AD91-0858-121C-B74488203244}"/>
              </a:ext>
            </a:extLst>
          </p:cNvPr>
          <p:cNvSpPr txBox="1"/>
          <p:nvPr/>
        </p:nvSpPr>
        <p:spPr>
          <a:xfrm>
            <a:off x="331307" y="1246852"/>
            <a:ext cx="8481385" cy="646331"/>
          </a:xfrm>
          <a:prstGeom prst="rect">
            <a:avLst/>
          </a:prstGeom>
          <a:noFill/>
        </p:spPr>
        <p:txBody>
          <a:bodyPr wrap="square">
            <a:spAutoFit/>
          </a:bodyPr>
          <a:lstStyle/>
          <a:p>
            <a:r>
              <a:rPr lang="en-US" altLang="zh-CN" b="1" i="0" dirty="0">
                <a:solidFill>
                  <a:srgbClr val="404040"/>
                </a:solidFill>
                <a:effectLst/>
                <a:latin typeface="Times New Roman" panose="02020603050405020304" pitchFamily="18" charset="0"/>
                <a:cs typeface="Times New Roman" panose="02020603050405020304" pitchFamily="18" charset="0"/>
              </a:rPr>
              <a:t>Copernicus DEM (30-meter resolution) is a global digital elevation model (Digital Elevation Model, DEM) under the Copernicus </a:t>
            </a:r>
            <a:r>
              <a:rPr lang="en-US" altLang="zh-CN" b="1" i="0" dirty="0" err="1">
                <a:solidFill>
                  <a:srgbClr val="404040"/>
                </a:solidFill>
                <a:effectLst/>
                <a:latin typeface="Times New Roman" panose="02020603050405020304" pitchFamily="18" charset="0"/>
                <a:cs typeface="Times New Roman" panose="02020603050405020304" pitchFamily="18" charset="0"/>
              </a:rPr>
              <a:t>Programme</a:t>
            </a:r>
            <a:r>
              <a:rPr lang="en-US" altLang="zh-CN" b="1" i="0" dirty="0">
                <a:solidFill>
                  <a:srgbClr val="404040"/>
                </a:solidFill>
                <a:effectLst/>
                <a:latin typeface="Times New Roman" panose="02020603050405020304" pitchFamily="18" charset="0"/>
                <a:cs typeface="Times New Roman" panose="02020603050405020304" pitchFamily="18" charset="0"/>
              </a:rPr>
              <a:t> of the European Union.</a:t>
            </a:r>
            <a:endParaRPr lang="en-US"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5E36B3CE-6AB5-1502-154D-1A3C058C103B}"/>
              </a:ext>
            </a:extLst>
          </p:cNvPr>
          <p:cNvSpPr txBox="1"/>
          <p:nvPr/>
        </p:nvSpPr>
        <p:spPr>
          <a:xfrm>
            <a:off x="3707904" y="2209760"/>
            <a:ext cx="5184635" cy="4124206"/>
          </a:xfrm>
          <a:prstGeom prst="rect">
            <a:avLst/>
          </a:prstGeom>
          <a:noFill/>
        </p:spPr>
        <p:txBody>
          <a:bodyPr wrap="square">
            <a:spAutoFit/>
          </a:bodyPr>
          <a:lstStyle/>
          <a:p>
            <a:pPr algn="l">
              <a:spcAft>
                <a:spcPts val="300"/>
              </a:spcAft>
              <a:buFont typeface="+mj-lt"/>
              <a:buAutoNum type="arabicPeriod"/>
            </a:pPr>
            <a:r>
              <a:rPr lang="en-US" altLang="zh-CN" i="0" dirty="0">
                <a:effectLst/>
                <a:latin typeface="Times New Roman" panose="02020603050405020304" pitchFamily="18" charset="0"/>
                <a:cs typeface="Times New Roman" panose="02020603050405020304" pitchFamily="18" charset="0"/>
              </a:rPr>
              <a:t>High resolution and global coverage</a:t>
            </a:r>
          </a:p>
          <a:p>
            <a:pPr algn="l">
              <a:spcAft>
                <a:spcPts val="300"/>
              </a:spcAft>
            </a:pPr>
            <a:r>
              <a:rPr lang="en-US" altLang="zh-CN" dirty="0">
                <a:latin typeface="Times New Roman" panose="02020603050405020304" pitchFamily="18" charset="0"/>
                <a:cs typeface="Times New Roman" panose="02020603050405020304" pitchFamily="18" charset="0"/>
              </a:rPr>
              <a:t> A resolution of 30 meters, covering the global land surface (including polar regions), for large-scale terrain analysis and identification of small-scale geographic features (e.g., valleys, rivers, urban terrain).         </a:t>
            </a:r>
          </a:p>
          <a:p>
            <a:pPr algn="l">
              <a:spcAft>
                <a:spcPts val="300"/>
              </a:spcAft>
            </a:pPr>
            <a:r>
              <a:rPr lang="en-US" altLang="zh-CN" dirty="0">
                <a:latin typeface="Times New Roman" panose="02020603050405020304" pitchFamily="18" charset="0"/>
                <a:cs typeface="Times New Roman" panose="02020603050405020304" pitchFamily="18" charset="0"/>
              </a:rPr>
              <a:t>Elevation accuracies of ±4 meters (flat areas) to ±10 meters (mountainous areas) are better than many publicly available DEM data.</a:t>
            </a:r>
          </a:p>
          <a:p>
            <a:pPr algn="l">
              <a:spcAft>
                <a:spcPts val="300"/>
              </a:spcAft>
            </a:pPr>
            <a:r>
              <a:rPr lang="en-US" altLang="zh-CN" i="0" dirty="0">
                <a:effectLst/>
                <a:latin typeface="Times New Roman" panose="02020603050405020304" pitchFamily="18" charset="0"/>
                <a:cs typeface="Times New Roman" panose="02020603050405020304" pitchFamily="18" charset="0"/>
              </a:rPr>
              <a:t>2. Multi-source data fusion</a:t>
            </a:r>
          </a:p>
          <a:p>
            <a:pPr algn="l">
              <a:spcAft>
                <a:spcPts val="300"/>
              </a:spcAft>
            </a:pPr>
            <a:r>
              <a:rPr lang="en-US" altLang="zh-CN" i="0" dirty="0">
                <a:effectLst/>
                <a:latin typeface="Times New Roman" panose="02020603050405020304" pitchFamily="18" charset="0"/>
                <a:cs typeface="Times New Roman" panose="02020603050405020304" pitchFamily="18" charset="0"/>
              </a:rPr>
              <a:t>It is mainly based on Sentinel-1 and </a:t>
            </a:r>
            <a:r>
              <a:rPr lang="en-US" altLang="zh-CN" i="0" dirty="0" err="1">
                <a:effectLst/>
                <a:latin typeface="Times New Roman" panose="02020603050405020304" pitchFamily="18" charset="0"/>
                <a:cs typeface="Times New Roman" panose="02020603050405020304" pitchFamily="18" charset="0"/>
              </a:rPr>
              <a:t>TerraSAR</a:t>
            </a:r>
            <a:r>
              <a:rPr lang="en-US" altLang="zh-CN" i="0" dirty="0">
                <a:effectLst/>
                <a:latin typeface="Times New Roman" panose="02020603050405020304" pitchFamily="18" charset="0"/>
                <a:cs typeface="Times New Roman" panose="02020603050405020304" pitchFamily="18" charset="0"/>
              </a:rPr>
              <a:t>-X/</a:t>
            </a:r>
            <a:r>
              <a:rPr lang="en-US" altLang="zh-CN" i="0" dirty="0" err="1">
                <a:effectLst/>
                <a:latin typeface="Times New Roman" panose="02020603050405020304" pitchFamily="18" charset="0"/>
                <a:cs typeface="Times New Roman" panose="02020603050405020304" pitchFamily="18" charset="0"/>
              </a:rPr>
              <a:t>TanDEM</a:t>
            </a:r>
            <a:r>
              <a:rPr lang="en-US" altLang="zh-CN" i="0" dirty="0">
                <a:effectLst/>
                <a:latin typeface="Times New Roman" panose="02020603050405020304" pitchFamily="18" charset="0"/>
                <a:cs typeface="Times New Roman" panose="02020603050405020304" pitchFamily="18" charset="0"/>
              </a:rPr>
              <a:t>-X radar data, combined with optical satellite and ground-truthing data, and generated by interferometric techniques.</a:t>
            </a:r>
            <a:endParaRPr lang="zh-CN" altLang="en-US" i="0" dirty="0">
              <a:effectLst/>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C1485099-3B72-6CC7-7DE4-90C59E708C45}"/>
              </a:ext>
            </a:extLst>
          </p:cNvPr>
          <p:cNvPicPr>
            <a:picLocks noChangeAspect="1"/>
          </p:cNvPicPr>
          <p:nvPr/>
        </p:nvPicPr>
        <p:blipFill>
          <a:blip r:embed="rId2"/>
          <a:stretch>
            <a:fillRect/>
          </a:stretch>
        </p:blipFill>
        <p:spPr>
          <a:xfrm>
            <a:off x="539552" y="2070451"/>
            <a:ext cx="2872480" cy="41101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B49AEF-A339-943D-DEFB-5419E7996CBF}"/>
              </a:ext>
            </a:extLst>
          </p:cNvPr>
          <p:cNvSpPr>
            <a:spLocks noGrp="1"/>
          </p:cNvSpPr>
          <p:nvPr>
            <p:ph type="title"/>
          </p:nvPr>
        </p:nvSpPr>
        <p:spPr/>
        <p:txBody>
          <a:bodyPr>
            <a:normAutofit fontScale="90000"/>
          </a:bodyPr>
          <a:lstStyle/>
          <a:p>
            <a:r>
              <a:rPr lang="en-US" altLang="zh-CN" sz="3600" b="0" i="0" dirty="0">
                <a:effectLst/>
                <a:latin typeface="Times New Roman" panose="02020603050405020304" pitchFamily="18" charset="0"/>
                <a:cs typeface="Times New Roman" panose="02020603050405020304" pitchFamily="18" charset="0"/>
              </a:rPr>
              <a:t>Elevation data</a:t>
            </a:r>
            <a:endParaRPr lang="en-US" dirty="0"/>
          </a:p>
        </p:txBody>
      </p:sp>
      <p:sp>
        <p:nvSpPr>
          <p:cNvPr id="5" name="文本框 4">
            <a:extLst>
              <a:ext uri="{FF2B5EF4-FFF2-40B4-BE49-F238E27FC236}">
                <a16:creationId xmlns:a16="http://schemas.microsoft.com/office/drawing/2014/main" id="{CFDE7EAC-96A0-5B07-D074-A907B8C2EEA3}"/>
              </a:ext>
            </a:extLst>
          </p:cNvPr>
          <p:cNvSpPr txBox="1"/>
          <p:nvPr/>
        </p:nvSpPr>
        <p:spPr>
          <a:xfrm>
            <a:off x="4211960" y="1413699"/>
            <a:ext cx="4509764" cy="2031325"/>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Elevation data (DEM) can be used for topographic analysis, such as calculating slope and slope direction, which may affect nutrient inflow and water movement. For example, steeper slopes may result in more runoff, bringing in more nutrients and promoting algal blooms.</a:t>
            </a:r>
            <a:endParaRPr lang="en-US"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CEE6FE90-86B4-9D3A-1707-6BD6F2816E2E}"/>
              </a:ext>
            </a:extLst>
          </p:cNvPr>
          <p:cNvSpPr txBox="1"/>
          <p:nvPr/>
        </p:nvSpPr>
        <p:spPr>
          <a:xfrm>
            <a:off x="4211960" y="3877995"/>
            <a:ext cx="4690292" cy="2031325"/>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Example:</a:t>
            </a:r>
          </a:p>
          <a:p>
            <a:r>
              <a:rPr lang="en-US" altLang="zh-CN" dirty="0">
                <a:latin typeface="Times New Roman" panose="02020603050405020304" pitchFamily="18" charset="0"/>
                <a:cs typeface="Times New Roman" panose="02020603050405020304" pitchFamily="18" charset="0"/>
              </a:rPr>
              <a:t>Topographic complexity: calculate the slope (slopes) around a water body; steep slopes may increase runoff inputs.</a:t>
            </a:r>
          </a:p>
          <a:p>
            <a:r>
              <a:rPr lang="en-US" altLang="zh-CN" dirty="0">
                <a:latin typeface="Times New Roman" panose="02020603050405020304" pitchFamily="18" charset="0"/>
                <a:cs typeface="Times New Roman" panose="02020603050405020304" pitchFamily="18" charset="0"/>
              </a:rPr>
              <a:t>Elevation effect: higher elevation areas have cooler water temperatures and inhibit algae growth.</a:t>
            </a:r>
            <a:endParaRPr lang="en-US"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4BC7B70C-1B43-3276-2018-74A4AF406C98}"/>
              </a:ext>
            </a:extLst>
          </p:cNvPr>
          <p:cNvPicPr>
            <a:picLocks noChangeAspect="1"/>
          </p:cNvPicPr>
          <p:nvPr/>
        </p:nvPicPr>
        <p:blipFill>
          <a:blip r:embed="rId2"/>
          <a:stretch>
            <a:fillRect/>
          </a:stretch>
        </p:blipFill>
        <p:spPr>
          <a:xfrm>
            <a:off x="827584" y="1296035"/>
            <a:ext cx="3121650" cy="4653136"/>
          </a:xfrm>
          <a:prstGeom prst="rect">
            <a:avLst/>
          </a:prstGeom>
        </p:spPr>
      </p:pic>
    </p:spTree>
    <p:extLst>
      <p:ext uri="{BB962C8B-B14F-4D97-AF65-F5344CB8AC3E}">
        <p14:creationId xmlns:p14="http://schemas.microsoft.com/office/powerpoint/2010/main" val="530037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48844A-6213-CDD5-0CFD-E2935609246B}"/>
              </a:ext>
            </a:extLst>
          </p:cNvPr>
          <p:cNvSpPr>
            <a:spLocks noGrp="1"/>
          </p:cNvSpPr>
          <p:nvPr>
            <p:ph type="title"/>
          </p:nvPr>
        </p:nvSpPr>
        <p:spPr/>
        <p:txBody>
          <a:bodyPr>
            <a:normAutofit fontScale="90000"/>
          </a:bodyPr>
          <a:lstStyle/>
          <a:p>
            <a:r>
              <a:rPr lang="en-US" dirty="0"/>
              <a:t>RGB</a:t>
            </a:r>
          </a:p>
        </p:txBody>
      </p:sp>
      <p:sp>
        <p:nvSpPr>
          <p:cNvPr id="5" name="文本框 4">
            <a:extLst>
              <a:ext uri="{FF2B5EF4-FFF2-40B4-BE49-F238E27FC236}">
                <a16:creationId xmlns:a16="http://schemas.microsoft.com/office/drawing/2014/main" id="{B223A159-5B60-3C17-5E43-62ACFC363454}"/>
              </a:ext>
            </a:extLst>
          </p:cNvPr>
          <p:cNvSpPr txBox="1"/>
          <p:nvPr/>
        </p:nvSpPr>
        <p:spPr>
          <a:xfrm>
            <a:off x="104666" y="1098024"/>
            <a:ext cx="9065501" cy="5355312"/>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Definition of RGB values and data sources</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1. Basic concepts</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RGB values: Reflectance values in the Red, Green and Blue bands captured by the optical sensor.</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Physical Significance:</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Red light (620-750 nm): sensitive to chlorophyll absorption, red light reflectance decreases when algae are enriched.</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Green light (495-570 nm): high reflectance from vegetation (including algae) and elevated green light values in algal bloom areas.</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Blue light (450-495 nm): strong penetration, but easily scattered by suspended particles, low reflectivity of blue light in turbid water.</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2. Data sources</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Satellite remote sensing: e.g. Landsat-8, Sentinel-2 provide multispectral data:</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Landsat-8 band:</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Band 4 (Red): 0.64–0.67 </a:t>
            </a:r>
            <a:r>
              <a:rPr lang="el-GR" altLang="zh-CN" dirty="0">
                <a:latin typeface="Times New Roman" panose="02020603050405020304" pitchFamily="18" charset="0"/>
                <a:cs typeface="Times New Roman" panose="02020603050405020304" pitchFamily="18" charset="0"/>
              </a:rPr>
              <a:t>μ</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Band 3 (Green): 0.53–0.59 </a:t>
            </a:r>
            <a:r>
              <a:rPr lang="el-GR" altLang="zh-CN" dirty="0">
                <a:latin typeface="Times New Roman" panose="02020603050405020304" pitchFamily="18" charset="0"/>
                <a:cs typeface="Times New Roman" panose="02020603050405020304" pitchFamily="18" charset="0"/>
              </a:rPr>
              <a:t>μ</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Band 2 (Blue): 0.45–0.51 </a:t>
            </a:r>
            <a:r>
              <a:rPr lang="el-GR" altLang="zh-CN" dirty="0">
                <a:latin typeface="Times New Roman" panose="02020603050405020304" pitchFamily="18" charset="0"/>
                <a:cs typeface="Times New Roman" panose="02020603050405020304" pitchFamily="18" charset="0"/>
              </a:rPr>
              <a:t>μ</a:t>
            </a:r>
            <a:r>
              <a:rPr lang="en-US" altLang="zh-CN" dirty="0">
                <a:latin typeface="Times New Roman" panose="02020603050405020304" pitchFamily="18" charset="0"/>
                <a:cs typeface="Times New Roman" panose="02020603050405020304" pitchFamily="18" charset="0"/>
              </a:rPr>
              <a:t>m</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Sentinel-2 band:</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Band 4 (Red): 0.665 nm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Band 3 (Green): 0.560 nm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Band 2 (Blue): 0.490 nm</a:t>
            </a:r>
          </a:p>
          <a:p>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Ground sensors: Multi-spectral water quality monitors directly measure the RGB reflectance of the water column.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0944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D2C67A6-63B2-DE01-3C29-F7057D02DDDE}"/>
              </a:ext>
            </a:extLst>
          </p:cNvPr>
          <p:cNvSpPr txBox="1"/>
          <p:nvPr/>
        </p:nvSpPr>
        <p:spPr>
          <a:xfrm>
            <a:off x="467544" y="1700808"/>
            <a:ext cx="7632848" cy="1200329"/>
          </a:xfrm>
          <a:prstGeom prst="rect">
            <a:avLst/>
          </a:prstGeom>
          <a:noFill/>
        </p:spPr>
        <p:txBody>
          <a:bodyPr wrap="square">
            <a:spAutoFit/>
          </a:bodyPr>
          <a:lstStyle/>
          <a:p>
            <a:pPr indent="457200"/>
            <a:r>
              <a:rPr lang="en-US" altLang="zh-CN" dirty="0">
                <a:latin typeface="Times New Roman" panose="02020603050405020304" pitchFamily="18" charset="0"/>
                <a:cs typeface="Times New Roman" panose="02020603050405020304" pitchFamily="18" charset="0"/>
              </a:rPr>
              <a:t>Clouds are opaque in the visible band, but partially transparent in the short infrared or thermal infrared bands. In combination with multispectral data, specific bands can be used to penetrate thin clouds or to identify cloud boundaries and assist in the restoration of obscured areas.</a:t>
            </a:r>
            <a:endParaRPr lang="en-US"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E4157A3F-5C0A-D79E-60FB-3BDCCA258DB2}"/>
              </a:ext>
            </a:extLst>
          </p:cNvPr>
          <p:cNvSpPr txBox="1"/>
          <p:nvPr/>
        </p:nvSpPr>
        <p:spPr>
          <a:xfrm>
            <a:off x="467544" y="3033534"/>
            <a:ext cx="7632848" cy="1477328"/>
          </a:xfrm>
          <a:prstGeom prst="rect">
            <a:avLst/>
          </a:prstGeom>
          <a:noFill/>
        </p:spPr>
        <p:txBody>
          <a:bodyPr wrap="square">
            <a:spAutoFit/>
          </a:bodyPr>
          <a:lstStyle/>
          <a:p>
            <a:pPr indent="457200" algn="l"/>
            <a:r>
              <a:rPr lang="en-US" altLang="zh-CN" b="0" i="0" dirty="0">
                <a:effectLst/>
                <a:latin typeface="Times New Roman" panose="02020603050405020304" pitchFamily="18" charset="0"/>
                <a:cs typeface="Times New Roman" panose="02020603050405020304" pitchFamily="18" charset="0"/>
              </a:rPr>
              <a:t>A cloud mask is generated using a pre-trained cloud detection algorithm (e.g., s2cloudless from Sentinel Hub), which directly rejects pixels that are covered by clouds, retaining only clear areas for analysis. The remaining blank areas can be filled by interpolation with contextual information (e.g., surrounding pixels or historical data).</a:t>
            </a:r>
            <a:endParaRPr lang="zh-CN" alt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55653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DVmNWE0YmZmZTQzN2RjNDNhM2QzMTM4NjQ2NWM3MjMifQ=="/>
</p:tagLst>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787c1b-0e97-4828-8c0d-b8f3a6310242" xsi:nil="true"/>
    <lcf76f155ced4ddcb4097134ff3c332f xmlns="8e53e424-babb-45a4-abae-e13a7137d97f">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Документ" ma:contentTypeID="0x010100CB9B37A45E138F4FAE483E00D711CF04" ma:contentTypeVersion="13" ma:contentTypeDescription="Создание документа." ma:contentTypeScope="" ma:versionID="6ddabc70f3a0832b21e7a1b95340d4ca">
  <xsd:schema xmlns:xsd="http://www.w3.org/2001/XMLSchema" xmlns:xs="http://www.w3.org/2001/XMLSchema" xmlns:p="http://schemas.microsoft.com/office/2006/metadata/properties" xmlns:ns2="8e53e424-babb-45a4-abae-e13a7137d97f" xmlns:ns3="c7787c1b-0e97-4828-8c0d-b8f3a6310242" targetNamespace="http://schemas.microsoft.com/office/2006/metadata/properties" ma:root="true" ma:fieldsID="dae571a1a1f4f79d40c414fc36e5e2cb" ns2:_="" ns3:_="">
    <xsd:import namespace="8e53e424-babb-45a4-abae-e13a7137d97f"/>
    <xsd:import namespace="c7787c1b-0e97-4828-8c0d-b8f3a631024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53e424-babb-45a4-abae-e13a7137d9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Теги изображений" ma:readOnly="false" ma:fieldId="{5cf76f15-5ced-4ddc-b409-7134ff3c332f}" ma:taxonomyMulti="true" ma:sspId="3dac30f7-4b6a-4d0c-a073-8dcd7cc3cb6e"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7787c1b-0e97-4828-8c0d-b8f3a6310242" elementFormDefault="qualified">
    <xsd:import namespace="http://schemas.microsoft.com/office/2006/documentManagement/types"/>
    <xsd:import namespace="http://schemas.microsoft.com/office/infopath/2007/PartnerControls"/>
    <xsd:element name="SharedWithUsers" ma:index="12"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Совместно с подробностями" ma:internalName="SharedWithDetails" ma:readOnly="true">
      <xsd:simpleType>
        <xsd:restriction base="dms:Note">
          <xsd:maxLength value="255"/>
        </xsd:restriction>
      </xsd:simpleType>
    </xsd:element>
    <xsd:element name="TaxCatchAll" ma:index="16" nillable="true" ma:displayName="Taxonomy Catch All Column" ma:hidden="true" ma:list="{c7c0d795-c7a5-418a-a8af-fdf0811019fb}" ma:internalName="TaxCatchAll" ma:showField="CatchAllData" ma:web="c7787c1b-0e97-4828-8c0d-b8f3a63102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77AFDB-3732-4B0C-A78F-5E03E9614370}">
  <ds:schemaRefs/>
</ds:datastoreItem>
</file>

<file path=customXml/itemProps2.xml><?xml version="1.0" encoding="utf-8"?>
<ds:datastoreItem xmlns:ds="http://schemas.openxmlformats.org/officeDocument/2006/customXml" ds:itemID="{5E7631D3-3390-4DE9-B85D-726EA1190C64}">
  <ds:schemaRefs/>
</ds:datastoreItem>
</file>

<file path=customXml/itemProps3.xml><?xml version="1.0" encoding="utf-8"?>
<ds:datastoreItem xmlns:ds="http://schemas.openxmlformats.org/officeDocument/2006/customXml" ds:itemID="{A9028B94-29BE-498C-97C9-0E22C595A7F5}">
  <ds:schemaRefs/>
</ds:datastoreItem>
</file>

<file path=docProps/app.xml><?xml version="1.0" encoding="utf-8"?>
<Properties xmlns="http://schemas.openxmlformats.org/officeDocument/2006/extended-properties" xmlns:vt="http://schemas.openxmlformats.org/officeDocument/2006/docPropsVTypes">
  <TotalTime>144</TotalTime>
  <Words>960</Words>
  <Application>Microsoft Office PowerPoint</Application>
  <PresentationFormat>全屏显示(4:3)</PresentationFormat>
  <Paragraphs>43</Paragraphs>
  <Slides>9</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9</vt:i4>
      </vt:variant>
    </vt:vector>
  </HeadingPairs>
  <TitlesOfParts>
    <vt:vector size="14" baseType="lpstr">
      <vt:lpstr>等线</vt:lpstr>
      <vt:lpstr>Arial</vt:lpstr>
      <vt:lpstr>Calibri</vt:lpstr>
      <vt:lpstr>Times New Roman</vt:lpstr>
      <vt:lpstr>Тема Office</vt:lpstr>
      <vt:lpstr>Group 7</vt:lpstr>
      <vt:lpstr>biological</vt:lpstr>
      <vt:lpstr>biological</vt:lpstr>
      <vt:lpstr>High-Resolution Rapid Refresh (HRRR)</vt:lpstr>
      <vt:lpstr>High-Resolution Rapid Refresh (HRRR)</vt:lpstr>
      <vt:lpstr>Elevation data</vt:lpstr>
      <vt:lpstr>Elevation data</vt:lpstr>
      <vt:lpstr>RGB</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圣彼得堡国立大学</dc:title>
  <dc:creator>Yin Li</dc:creator>
  <cp:lastModifiedBy>Ма Сюй</cp:lastModifiedBy>
  <cp:revision>65</cp:revision>
  <dcterms:created xsi:type="dcterms:W3CDTF">2020-09-11T12:30:00Z</dcterms:created>
  <dcterms:modified xsi:type="dcterms:W3CDTF">2025-03-17T20:29:24Z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0x010100CB9B37A45E138F4FAE483E00D711CF04</vt:lpwstr>
  </property>
  <property fmtid="{D5CDD505-2E9C-101B-9397-08002B2CF9AE}" pid="3" name="ICV">
    <vt:lpwstr>2C067F95B80F433893E9F8474BA3795D_13</vt:lpwstr>
  </property>
  <property fmtid="{D5CDD505-2E9C-101B-9397-08002B2CF9AE}" pid="4" name="KSOProductBuildVer">
    <vt:lpwstr>2052-12.1.0.19302</vt:lpwstr>
  </property>
</Properties>
</file>